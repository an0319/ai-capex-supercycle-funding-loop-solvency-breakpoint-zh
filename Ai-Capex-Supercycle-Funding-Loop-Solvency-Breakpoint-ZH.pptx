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77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来源：Fed FEDS Note / Platformonomics / SimianX / IMF / BIS（核验表 0.1-A 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来源：公司公告 / Fortune / Anthropic / Nvidia·Microsoft 财报（核验表 0.1-B 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来源：公司财报 / SiliconData / CoreWeave 公告 / 历史研究文献（核验表 0.1-C 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来源：各方官方公告与多方报道（增量子表 0.6-A/B）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快照时点 2026-09-06 · 来源：第0章核验表（0.1-xx / 0.6-xx）· 金额均为快照值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快照时点 2026-09-06 · 来源：Nvidia 公告 / Series I 披露（0.1-B、0.5-2、0.6-5、0.6-9）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快照时点 2026-09-06 · 来源：Fortune / Anthropic 官方（0.1-B10/11/12/13、0.6-7、0.6-12）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快照时点 2026-09-06 · 来源：第0章核验表 0.1-B / 0.6-1/2/3/7/11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快照时点 2026-09-06 · 来源：本报告第 1 章 1.5/1.6 结构论证 · 不构成方向性预测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来源：公司披露 / Menlo Ventures / Gartner / FRED / ILO（锚点表 2.0、核验表 0.5-4）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来源：Platformonomics / UBS / IDC / Gartner（0.1-A3、0.6-13、0.1-B15）；演算为本报告分步推演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来源：官方公告（0.5-2、0.6-1/2/5/7、0.1-B8）＋本报告演算 · 关联方收入占比公开财报未拆分（20%—62% 为代理，置信 Low）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来源：Menlo Ventures（2.0-4）＋本报告各节演算（2.6—2.10）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来源：ILO/FRED（2.0-7/8）、Menlo（2.0-4）、MIT NANDA（2.0-10）＋本报告演算 · 情景均为条件语句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来源：微软定价页（2.0-3）、ChatGPT 用户数据（2.0-2）、SimianX（0.1-A6）、Nvidia 拆分（2.0-6）＋本报告演算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来源：本报告 2.11 分步演算 · 全部远期情景为条件语句，不作方向押注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来源：公司财报/SEC 文件（0.1-C1/C2/C3）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来源：租金曲线 0.5-3（High）· 演算为本报告估算（置信度低）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来源：本报告第 2—4 章交叉推演 · 全程条件句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来源：公司披露/FTC 6(b)/20-F（0.5-4、3.0-6）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来源：SEC 请愿/FTC/20-F（High/Medium）· Insull 口径 3.0-8/9/10（Medium）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来源：0.1-B6、0.5-2、0.6-4/9（Medium）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来源：0.1-A6/C8、0.5-1、2.3/2.11-B · 估算值·置信度低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来源：0.1-A6/C5/C9、0.5-1、0.6-8、2.4-2 · 金额多为媒体口径（Low–Medium）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来源：本报告 4.4 演算（估算值·置信度低）· 0.1-C6/C14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来源：0.1-A6/C8、0.5-1、2.3 第 6 步 · 该参数已登记为第 7 章输入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来源：ch4 4.3/4.4、0.1 系列、0.8 系列 · 全表为条件句框架 · 不倒条件：长协锁价/折扣稳 30% 档/回报斜率超 capex/HBM 短缺真实/迭代降速再利用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来源：0.1-C5/C9、0.5-3、0.6-8、3.0-6 · 金额为媒体口径（Medium）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来源：0.1-C6/C14、0.5-1、ch4 4.2/4.4 · 追保演算为估算（参数为假设）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2026-09-07 · 来源：0.1-A3/A6、0.6-13（High/Med）、0.8-1~0.8-6（Medium）· HBM 价格为分析师估算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来源：0.5-1、0.6-6、0.1-C11/C12、ch4 4.5/4.2 · L5 置信度 Low–Med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历史核验执行日 2026-09-07 · 来源：TIA/FCC、SEC、公开资料整理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来源：TIA/FCC、SEC、公开资料整理（置信度随数字走）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来源：公开资料整理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基线截至 2026-09-06 · 来源：公开资料整理（置信度随数字走）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来源：公开资料整理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基线截至 2026-09-06 · 来源：公开资料整理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基线截至 2026-09-06 · 来源：公开资料整理（判读阈值：R 中心连续两季 ≥0.3 或 B 口径 run-rate ≥5000 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基线截至 2026-09-06 · 来源：公开资料整理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数据截止 2026-09-06 · 来源：公开资料整理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8686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CC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研究报告 · 结构化推演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868680" y="1353312"/>
            <a:ext cx="201168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920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谁为万亿算力买单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AI资本开支超级周期的资金闭环与偿付断点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2026-09-06 执行日公开数据的资金闭环测绘、五级骨牌条件地图与三情景监测框架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4315968"/>
            <a:ext cx="10451592" cy="0"/>
          </a:xfrm>
          <a:prstGeom prst="line">
            <a:avLst/>
          </a:prstGeom>
          <a:noFill/>
          <a:ln w="12700">
            <a:solidFill>
              <a:srgbClr val="1E43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5537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发表者：WANG ZIWEN / 왕자문 - 2025102925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0109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数据来源见各页脚注 · 报告全文（脱壳版）与修订记录见 GitHub 仓库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53218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C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github.com/An0319/ai-capex-supercycle-funding-loop-solvency-breakpoint-zh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2026 WANG ZIWEN (Adrian) · CC BY-NC 4.0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执行日核验表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92240" y="168249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2026-09-06 三组核验 × 0.6 增量 · 承诺、现金流、会计与信用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166420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3055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资金闭环全景图谱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218541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加速器与共振器 · 四线流转 · 三大网络解剖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201400" y="216712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3347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265176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需求缺口算术与五路径承载力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268833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R＝0.15—0.36（中心 0.23）· 年缺口中心 6550 亿美元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201400" y="267004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8152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3639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315468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会计解剖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92240" y="319125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折旧裂缝 · 循环合约收入三重折扣 · 监管前哨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01400" y="317296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58444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3931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25880" y="365760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信用脆弱性图谱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369417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最软层先行 · 到期墙 · 三类发行人 · GPU 抵押折扣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201400" y="367588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8736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4223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25880" y="416052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五级骨牌序列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92240" y="419709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租赁商 → L2 抵押 → L3 capex → L4 芯片/HBM/PPA → L5 搁浅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201400" y="417880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59028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4515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325880" y="466344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历史周期结构对照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92240" y="470001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1840s 铁路 · 1920s 公用事业 · 1990s 电信 · 2020s AI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201400" y="468172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09320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14807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325880" y="516636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多方博弈与情景推演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492240" y="520293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言行一致性 · 结构约束 · 三情景 · 不连续分支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201400" y="518464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596128"/>
            <a:ext cx="11094415" cy="0"/>
          </a:xfrm>
          <a:prstGeom prst="line">
            <a:avLst/>
          </a:prstGeom>
          <a:noFill/>
          <a:ln w="6350">
            <a:solidFill>
              <a:srgbClr val="D8DE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650992"/>
            <a:ext cx="685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325880" y="5669280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后续监测与情景判读 ＋ 附录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492240" y="5705856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监测即判读 · 三梯队指标 · 分析方法说明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201400" y="5687568"/>
            <a:ext cx="8229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第0章 · CHAPTER 00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执行日核验表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2026-09-06 三组核验 × 0.6 增量 · 承诺、现金流、会计与信用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第0章 · 执行日核验表（2026-09-06）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A组核验：CapEx 三年三级跳，现金流覆盖近极限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四大云 CapEx：2024 约 2283 亿 → 2025 约 3828 亿 → 2026 指引 6950—7250 亿美元，两年近三倍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64766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承诺 2028 年前对美投资超 6000 亿美元（累计承诺，非单年 capex）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48204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H1-2026 五大 CapEx/经营现金流达 96%（2024 年 50%、2025 年 68%），2025 合计 FCF 1913 亿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231642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四家长期债务：2024 末 1320 亿 → 2026-06 末 3419 亿美元，“FCF→信用”迁移有实测支撑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815080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IMF GFSR（2025-10）警告估值集中度历史高位；BIS（2025-12）指 M7 估值拉伸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4786884"/>
        </p:xfrm>
        <a:graphic>
          <a:graphicData uri="http://schemas.openxmlformats.org/drawingml/2006/table">
            <a:tbl>
              <a:tblPr/>
              <a:tblGrid>
                <a:gridCol w="1526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锚点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核验值（截至 2026-09-06）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置信度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四大云 2024 合计 CapEx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日历口径约 2283 亿美元（Amazon 83.0B / Google 52.5B / Meta 37.3B / Microsoft 55.6B）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CapEx 合计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日历口径约 3828 亿美元（131.8 / 91.5 / 69.7 / 83.1）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CapEx 指引/预期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四厂 6950—7250 亿美元（Amazon ~200B / Google 180-190B / Meta 125-145B / Microsoft ~190B）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至 2028 对美投资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“committing over $600 billion in the US by 2028”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 资金来源结构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H1-2026 CapEx/OCF 96%；2025 FCF 1913 亿；长期债务 1320 亿→3419 亿美元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IMF/BIS 金融稳定报告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 GFSR 2025-10 期；BIS 2025-12 Quarterly Review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来源：Fed FEDS Note / Platformonomics / SimianX / IMF / BIS（核验表 0.1-A 组）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第0章 · 执行日核验表（2026-09-06）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B组核验：承诺以万亿计，收入以百亿计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算力承诺三口径必须分列：官方约 1.4 万亿/8 年 ≠ 第三方拆分约 1.15 万亿 ≠ 2026 调整 600→750 亿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64766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对 OpenAI“至多 1000 亿”（2025-09-22）已于 2026-02 弱化为约 300 亿股权，黄仁勋称 never a commitment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43911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微软控股 OpenAI 约 27%（估值约 1350 亿），既股东又供应商的双重身份标本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27349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收入快变量跃迁：2025 全年 130.7 亿（+254%）→ 2026-08 约 400 亿 ARR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10787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回流成效观测：Nvidia FY2026 数据中心收入 1937 亿（+68%）；Azure 全年首破 1000 亿美元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4809746"/>
        </p:xfrm>
        <a:graphic>
          <a:graphicData uri="http://schemas.openxmlformats.org/drawingml/2006/table">
            <a:tbl>
              <a:tblPr/>
              <a:tblGrid>
                <a:gridCol w="167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锚点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置信度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Stargate 项目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 亿美元，4 年部署、初始 1000 亿（OpenAI/SoftBank/Oracle/MGX，Nvidia 技术伙伴）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 Azure 采购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2500 亿美元，“未来数年”（2025-10-28 重组一部分）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合约 / Broadcom ASIC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380 亿多年期（约 7 年）/ 10GW 定制 ASIC，机架部署 2026H2 启动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 / 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 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6GW AMD GPUs + 最多 1.6 亿股期权；MI450 2026H2 首发部署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Nvidia→OpenAI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原“至多 1000 亿”→ 2026-02 弱化为约 300 亿股权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承诺合计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官方约 1.4 万亿/8 年；第三方约 1.15 万亿；2026 调整 600→750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微软控股 OpenAI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27% 股权（估值约 1350 亿）；技术访问至 2032、解除云独占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年化收入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全年 130.7 亿（+254%）；2026-08 约 400 亿 ARR / 约 33 亿/月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数据中心收入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FY2026 全年 1937 亿（+68%）；Q4 FY26 单季 623 亿（+75%）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来源：公司公告 / Fortune / Anthropic / Nvidia·Microsoft 财报（核验表 0.1-B 组）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第0章 · 执行日核验表（2026-09-06）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C组核验：会计 6 年对寿命 2—3 年，信用层成形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MSFT/Google 服务器折旧延至 6 年（FY23 分别减负约 37 亿/39 亿）；CoreWeave GPU 亦 6 年直线折旧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64766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有效寿命 2—3 年 vs 会计 5—6 年，60—70% 利用率下寿命更短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48204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租金非单向下行：2023H2 约 7.76—7.92 → 2025-10 低点 1.70 → 2026-03 回升至 2.35 美元/时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231642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校正错误锚点：真实为 Stargate $38B 项目融资（JPMorgan+MUFG）+ Meta-Blue Owl $27B Hyperion（80%/20%）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10787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历史锚校准：电信 capex 1996 约 300 亿 → 2000 峰值 1100—1200 亿美元，“崩塌超八成”证据不足，降级为腰斩级收缩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914400"/>
        </p:xfrm>
        <a:graphic>
          <a:graphicData uri="http://schemas.openxmlformats.org/drawingml/2006/table">
            <a:tbl>
              <a:tblPr/>
              <a:tblGrid>
                <a:gridCol w="1704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3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锚点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置信度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MSFT/Google 折旧延至 6 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 FY23 运营收入影响约 37 亿；Google FY23 折旧减约 39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H100 租金曲线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2023H2 7.76—7.92 美元/时；2025-10 低点 1.70；2026-03 2.35、2026-04 区间 2.10—2.70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CoreWeave GPU 抵押债务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$8.5B DDTL 4.0（SOFR+2.25%，首个投资级 GPU-backed）+ $3.1B DDTL 5.0；总债务超 325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私募信贷敞口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科技公司私募借款约 4500 亿（2025 初）；约 1250 亿流入项目融资；AI 贷款占比 17%→超 33%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xAI 混合融资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200 亿 GPU 租赁/自持 SPV：约 75 亿股权 + 125 亿债务（GPU 担保）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Lucent/Nortel 卖方融资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Lucent 承诺 81 亿；Nortel 延伸 31 亿（14 亿未偿）——须分列口径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电信 capex 崩塌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1996 约 300 亿 → 2000 峰值 1100—1200 亿；TIA 预测 2002 降 48%；dark fiber 2002 点亮率 &lt;5%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Medium/Low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0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1920s Insull 体系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2700 万美元股权控制约 5 亿美元资产（多层杠杆原型）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接口：HBM 与电网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HBM4 约 560 美元/颗（较 HBM3E 涨逾 50%）；美国并网队列约 2600 GW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来源：公司财报 / SiliconData / CoreWeave 公告 / 历史研究文献（核验表 0.1-C 组）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第0章 · 执行日核验表（2026-09-06）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 增量：2026 大单全面转向“投资＋采购”双绑定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Google↔Anthropic：最高投 400 亿（100 亿现付@3500 亿估值 + 300 亿绩效挂钩）；Anthropic 五年约 2000 亿 GCP 支出（含 5GW TPU）——三重闭环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60473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Amazon↔Anthropic：十年内 &gt;1000 亿 AWS（锁 5GW）；Amazon 即投 50 亿、可追加至 200 亿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43911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OpenAI↔AWS：380 亿扩展至 1380 亿/8 年（约 2GW Trainium）；Amazon 投 500 亿（150 即付 + 350 条件）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27349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Series I 1100 亿：Amazon 500 + Nvidia 300 + SoftBank 300（post 8400 亿估值）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10787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结构性开放：微软解除 OpenAI 排他（2026-04）；Anthropic Series G 300 亿（post 3800 亿）为纯融资、非闭环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914400"/>
        </p:xfrm>
        <a:graphic>
          <a:graphicData uri="http://schemas.openxmlformats.org/drawingml/2006/table">
            <a:tbl>
              <a:tblPr/>
              <a:tblGrid>
                <a:gridCol w="2367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7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增量交易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金额/要点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置信度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0.6-1 Google↔Anthropic TPU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最高投 400 亿；Anthropic 五年约 2000 亿 GCP（5GW TPU，2027 起）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三重闭环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0.6-2 Amazon↔Anthropic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十年 &gt;1000 亿 AWS；即投 50 亿＋可追加至 200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0.6-3 OpenAI↔AWS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380 亿＋1000 亿＝1380 亿/8 年；Amazon 投 500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0.6-4 OpenAI Series 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1100 亿（Amazon 500＋Nvidia 300＋SoftBank 300）；post 8400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0.6-5 xAI / SpaceX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轮 200 亿，Nvidia 投 100 亿；收购后 Nvidia 持约 210 亿 SpaceX 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0.6-6 Google 租 xAI Colossus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9.2 亿美元/月（约 11 万颗 GPU），2026-10~2029-06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租赁型闭环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0.6-7 Anthropic↔Azure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 300 亿；MSFT 50 亿＋Nvidia 100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5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0.6-11 Anthropic Series 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亿，post 估值 3800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纯融资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7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0.6-13 capex 指引更新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 ~2200 亿；Google 1800—1900 亿；Meta 1300—1450 亿；MSFT 1750—1900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High/Medium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来源：各方官方公告与多方报道（增量子表 0.6-A/B）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· CHAPTER 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资金闭环全景图谱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加速器与共振器 · 四线流转 · 三大网络解剖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· 资金闭环全景图谱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全景地图：四线流转，八类节点，卖方融资闭环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四线定义：[股] 股权投资流 / [合] 算力合约流 / [芯] 芯片物流 / [债] 债务流；实线＝官方已签署，虚线＝未坐实/已弱化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61236"/>
            <a:ext cx="11094415" cy="2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是全网唯一净现金流巨头 → 实际背书人；云商“既受益又可能引爆”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41144"/>
            <a:ext cx="11094415" cy="2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模型实验室＝史上最烧钱的信用实体；算力租赁商＝第一张骨牌候选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21052"/>
            <a:ext cx="11094415" cy="2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债权市场＝沉睡的抵押权人；主权买方＝X 变量；SPV 透明度最低；电力/地理＝物理天花板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83256"/>
            <a:ext cx="2306665" cy="713232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83256"/>
            <a:ext cx="20323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半导体商 / 云商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5577" y="2683256"/>
            <a:ext cx="2306665" cy="713232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8457" y="2683256"/>
            <a:ext cx="20323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[股]+[芯]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42515" y="2683256"/>
            <a:ext cx="2306665" cy="713232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5395" y="2683256"/>
            <a:ext cx="20323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模型实验室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9452" y="2683256"/>
            <a:ext cx="2306665" cy="713232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22332" y="2683256"/>
            <a:ext cx="20323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[合]算力采购回流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36390" y="2683256"/>
            <a:ext cx="2306665" cy="713232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9270" y="2683256"/>
            <a:ext cx="20323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云商 / 半导体商收入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561080"/>
            <a:ext cx="2855900" cy="475488"/>
          </a:xfrm>
          <a:prstGeom prst="chevron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561080"/>
            <a:ext cx="2581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私募信贷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4812" y="3561080"/>
            <a:ext cx="2855900" cy="475488"/>
          </a:xfrm>
          <a:prstGeom prst="chevron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7692" y="3561080"/>
            <a:ext cx="2581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[债]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40984" y="3561080"/>
            <a:ext cx="2855900" cy="475488"/>
          </a:xfrm>
          <a:prstGeom prst="chevron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3864" y="3561080"/>
            <a:ext cx="2581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SPV / 租赁商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87155" y="3561080"/>
            <a:ext cx="2855900" cy="475488"/>
          </a:xfrm>
          <a:prstGeom prst="chevron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70035" y="3561080"/>
            <a:ext cx="2581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抵押品 = GPU + 合约现金流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1160"/>
          <a:ext cx="11094415" cy="914400"/>
        </p:xfrm>
        <a:graphic>
          <a:graphicData uri="http://schemas.openxmlformats.org/drawingml/2006/table">
            <a:tbl>
              <a:tblPr/>
              <a:tblGrid>
                <a:gridCol w="981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闭环角色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半导体商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/ AMD / Broadcom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全网唯一净现金流巨头→实际背书人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超大规模云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 / Google / Amazon / Oracle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既是闭环受益人又是潜在引爆人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模型实验室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/ Anthropic / xAI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史上最烧钱的信用实体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算力租赁商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CoreWeave / Nebius / Lambda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第一张骨牌候选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债权市场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银行 / 私募信贷 / 公开债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沉睡的抵押权人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主权买方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海湾基金 / 国家级项目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缺口的不可预测填塞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SPV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Stargate / Hyperion / Colossus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断裂时放大信息不对称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电力/地理约束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台积电 / HBM / 电网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部署速率的物理上限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快照时点 2026-09-06 · 来源：第0章核验表（0.1-xx / 0.6-xx）· 金额均为快照值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· 资金闭环全景图谱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闭环心脏：唯一净现金巨头背书全网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OpenAI：原 1000 亿框架搁置 → Series I 300 亿股权（虚线→实线）；10GW→5GW Vera Rubin 采购回流仍为虚线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Anthropic 100 亿、对 xAI/SpaceX 100 亿（收购后转持约 210 亿 SpaceX 股）——均实线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新背书形态：PORTS-Pike 担保 4.25 IT-GW（+3.75 option），OpenAI 为客户——供应商信用支持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FY2026 数据中心收入 1937 亿、利润率极高：既有能力又有动机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7157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后转向“小股权＋高密度采购＋信用担保”，不再自曝大额投资承诺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42285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42285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5577" y="3042285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8457" y="3042285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$30B 股权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2515" y="3042285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5395" y="3042285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9452" y="3042285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2332" y="3042285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5GW Vera Rubin 采购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36390" y="3042285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9270" y="3042285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数据中心收入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56685"/>
          <a:ext cx="11094414" cy="2425828"/>
        </p:xfrm>
        <a:graphic>
          <a:graphicData uri="http://schemas.openxmlformats.org/drawingml/2006/table">
            <a:tbl>
              <a:tblPr/>
              <a:tblGrid>
                <a:gridCol w="776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2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 → 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[股]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→ OpenAI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 $100B 框架（搁置）→ $30B 股权（Series I）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虚线→实线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[芯][合]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→ OpenAI → Nvidia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10GW→5GW Vera Rubin 采购回流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虚线（框架未转合同）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[股]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→ Anthropic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$10B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[股][债]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→ xAI/SpaceX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$10B 投资 → 约 $21B SpaceX 持股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实线（中期）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[债/信用]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→ PORTS-Pike（俄亥俄）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担保 4.25 IT-GW（+3.75 option）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虚线（担保额无公开 $）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快照时点 2026-09-06 · 来源：Nvidia 公告 / Series I 披露（0.1-B、0.5-2、0.6-5、0.6-9）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· 资金闭环全景图谱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双重身份：投资科目与应收账款互为镜像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OpenAI：27% 股权（估值 1350 亿）＋ 收 Azure 采购 2500 亿 ＋ 付收入分成（上限 380 亿至 2030）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Anthropic：投 50 亿 ＋ 收 Azure 采购 300 亿——“先投后卖”的标准闭环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 排他解除：OpenAI 可部署 AWS/Google Cloud，单一绑定松动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风险识别：若 OpenAI/Anthropic 收缩，微软同时面对权益减记＋应收账款减值双重冲击——“闭环共振器”最直接支撑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44724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44724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5577" y="2744724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8457" y="2744724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27% 股权 $1350 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42515" y="2744724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5395" y="2744724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9452" y="2744724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22332" y="2744724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$250B Azure 采购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36390" y="2744724"/>
            <a:ext cx="2306665" cy="7498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9270" y="2744724"/>
            <a:ext cx="20323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9124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8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8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 → 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[股]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微软(27%) → OpenAI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 $1350 亿；技术访问至 2032、解除云独占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[合]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→ Azure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$250B（未来数年）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[股]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微软 → Anthropic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$5B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[合]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 → Azure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$30B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[合]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OpenAI/MSFT 排他结束 → 多云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—（2026-04）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实线（开放化）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快照时点 2026-09-06 · 来源：Fortune / Anthropic 官方（0.1-B10/11/12/13、0.6-7、0.6-12）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· 资金闭环全景图谱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三大网络解剖：OpenAI 放射网状，Anthropic 四面伸手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网络：微软（27%＋$250B）、Amazon（Series I 500 亿＋AWS $138B）、Nvidia（300 亿）多方绑定——缺口分散在多家云商表上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收入侧命门：ARR 约 400 亿，对微软约 20% 分成、上限 $38B 至 2030——“账面收入”与“可支配收入”之间有一个漏斗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网络：一个受投方四面伸手——微软 50 亿/Azure 300 亿、Nvidia 100 亿、Google 400 亿/GCP 2000 亿/5y、Amazon 50—200 亿/AWS &gt;1000 亿/10y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是全图卖方融资最纯粹一环：“股权→采购→消费”在四张表上同时加杠杆；Series G 3800 亿估值与承诺额同量级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67684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815" y="3567684"/>
            <a:ext cx="175732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微软/Nvidia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/Google/Amazon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5577" y="3567684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8457" y="3567684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[股]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42515" y="3567684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5395" y="3567684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9452" y="3567684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4138" y="3567684"/>
            <a:ext cx="174053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[合] Azure $30B · GCP $200B/5y · AWS &gt;$100B/10y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36390" y="3567684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9270" y="3567684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回流原路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快照时点 2026-09-06 · 来源：第0章核验表 0.1-B / 0.6-1/2/3/7/11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· 资金闭环全景图谱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闭环既是加速器又是共振器；2026 五大结构改变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加速器（扩张期）：现金溢出→投资换承诺→采购回流收入→市值/融资能力→更大承诺，每步强化前步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信用是加速器的第三形态：GPU 抵押＋合同现金流让杠杆脱离 FCF 运转（CoreWeave 首个投资级），FCF→信用迁移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共振器（收缩期）：任一节点跌破底线→关联方收入占比暴露虚增→权益减记＋应收减值＋信用重估三路并发，沿稠密边矩阵扩散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辩证：若 Agent 劳动替代提前爆发，顺周期性被真实产出部分对冲——仅作结构陈述，不作方向押注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67684"/>
            <a:ext cx="167896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5416" y="3567684"/>
            <a:ext cx="90102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半导体商现金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17881" y="3567684"/>
            <a:ext cx="167896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8031" y="3567684"/>
            <a:ext cx="99737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87122" y="3567684"/>
            <a:ext cx="167896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7272" y="3567684"/>
            <a:ext cx="99737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客户承诺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56363" y="3567684"/>
            <a:ext cx="167896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6513" y="3567684"/>
            <a:ext cx="99737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25604" y="3567684"/>
            <a:ext cx="167896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5754" y="3567684"/>
            <a:ext cx="99737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卖方收入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94845" y="3567684"/>
            <a:ext cx="167896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4995" y="3567684"/>
            <a:ext cx="99737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市值/融资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964086" y="3567684"/>
            <a:ext cx="167896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54236" y="3567684"/>
            <a:ext cx="99737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更大承诺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702808"/>
            <a:ext cx="11094415" cy="588264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702808"/>
            <a:ext cx="54864" cy="588264"/>
          </a:xfrm>
          <a:prstGeom prst="rect">
            <a:avLst/>
          </a:prstGeom>
          <a:solidFill>
            <a:srgbClr val="0B2F4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721096"/>
            <a:ext cx="10710367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五变：闭环多中心化（排他解除）· Nvidia 转隐性信用背书 · Anthropic 成最大多向受投方 · 债务流全面提速 · Oracle 定位复杂化（Stargate 租户＋SPV 融资主体＋3000 亿低置信承诺方）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快照时点 2026-09-06 · 来源：本报告第 1 章 1.5/1.6 结构论证 · 不构成方向性预测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CHAPTER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需求缺口算术与五路径承载力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R＝0.15—0.36（中心 0.23）· 年缺口中心 6550 亿美元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需求缺口算术与五路径承载力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分子三级口径：A 看流水、B 看可支配、C 只算承诺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口径（实际 run-rate）行业合计约 1600—2500 亿美元/年；B 口径（净可支配）约 1450—2500 亿，中心约 1950 亿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60473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B 口径 320 亿：约 20% 收入分成、至 2030 累计上限 380 亿——该漏斗是暂时性结构，触顶后回到 A 口径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43911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口径（已签约未交付）已核验合计约 0.93—1.73 万亿 → 年化 1310—2310 亿美元，禁入当期比值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27349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的唯一合法用途＝未来分母候选：若 2030 收入达到 C 年化，R 升至 0.13—0.23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10787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使用规则：赛跑比值 R 的分子用 B 为主（偿付账单的是可支配的钱），A 为敏感性上界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914400"/>
        </p:xfrm>
        <a:graphic>
          <a:graphicData uri="http://schemas.openxmlformats.org/drawingml/2006/table">
            <a:tbl>
              <a:tblPr/>
              <a:tblGrid>
                <a:gridCol w="1240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当期取值（亿美元/年）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依据/置信度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A·OpenAI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400（2026-08，约 33 亿/月×12）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0.5-4 / 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A·Anthropic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 650（2026-07 run-rate）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2.0-1 / 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A·行业合计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1600—2500（模型层 1050—1700＋应用层 550—800）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B·OpenAI 净可支配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320（400×(1−20%)）；累计约 5 年触及 380 亿上限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0.5-4 / 推断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B·行业合计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1450—2500，中心约 1950（下端＝截留全发生，上端＝无截留）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推断 / 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C·OpenAI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 750—1750（官方 1.4 万亿/8y；第三方 1.15 万亿；2026 调整 6000—7500 亿）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C·Anthropic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560/年（2000/5＋1000/10＋300/5）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High（金额）/Medium（摊法）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C·合计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 1310—2310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来源：公司披露 / Menlo Ventures / Gartner / FRED / ILO（锚点表 2.0、核验表 0.5-4）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需求缺口算术与五路径承载力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赛跑比值 R＝0.15—0.36、中心 0.23；年缺口中心 6550 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分母主口径锁定 6950 亿—1.0 万亿美元：Gartner“AI enabled 支出”2.59 万亿计数最通胀，禁止作分母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64766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R_min＝1450÷10000＝0.145；R_max＝2500÷6950＝0.360；中心＝1950÷8500＝0.229（对第 1 章系细化而非改口）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43911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缺口：G_min＝4450 亿；G_max＝8550 亿；中心 ≈6550 亿美元/年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27349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外部融资实测：两年表内外债务增量 ≈3420 亿 → 年化约 1710 亿 ÷ 外部需求 3550—4550 亿 ≈ 38%—48%（下界）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10787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敏感性：分子×2 → R 0.29—0.72（穿越 0.3 监测线）；分母÷2（电力硬顶）→ 0.39—0.56，系“分母坍缩型改善”，不等于健康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914400"/>
        </p:xfrm>
        <a:graphic>
          <a:graphicData uri="http://schemas.openxmlformats.org/drawingml/2006/table">
            <a:tbl>
              <a:tblPr/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口径（机构）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年值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AI 算力 capex 的关系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窄①：四大云 capex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6950—7250 亿美元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最贴近，但不含 Oracle/neocloud/xAI 自建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窄②：超大规模 capex（UBS）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1.0 万亿美元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主口径上界候选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中：IDC“AI 支出”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5145 亿美元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支出≠capex，不可直接比收入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宽：Gartner“AI enabled 总支出”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2.59 万亿美元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禁止作为赛跑分母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来源：Platformonomics / UBS / IDC / Gartner（0.1-A3、0.6-13、0.1-B15）；演算为本报告分步推演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需求缺口算术与五路径承载力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回流演算：Nvidia 回收期 0.6—3.7 年；Anthropic 撬动 4—11 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视角：股权约 500 亿（OpenAI 300＋Anthropic 100＋xAI 100）；伙伴年化采购 1310—2310 亿 × 芯片份额 50—65% × Nvidia 份额 60—80% → 实得 390—1200 亿/年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回收期（陷阱修正：采购回流是收入不是利润）：毛利口径 0.6—1.8 年、自由现金流口径 1.0—3.7 年——投资本身并不亏，前提是承诺全额兑现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脆弱点不在回收期，而在“承诺兑现率 × 分流率的乘积”：兑现率÷2 → 回收期 2—7 年；÷4 → 4—15 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视角：实付股权 300 亿（上限 800 亿）撬动 3300 亿采购承诺——撬动倍数 11.0 倍（实付）/4.1 倍（上限）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覆盖比对照：Anthropic 650÷560＝1.16x vs OpenAI 0.43—0.53x——同一闭环结构的两个健康度样本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8862" y="3956685"/>
            <a:ext cx="15052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亿股权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5577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1077" y="3956685"/>
            <a:ext cx="161972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年化采购 1310—2310 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2515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8014" y="3956685"/>
            <a:ext cx="161972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芯片份额 655—1500 亿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9452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34952" y="3956685"/>
            <a:ext cx="161972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实得</a:t>
            </a: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390—1200 亿/年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3639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1889" y="3956685"/>
            <a:ext cx="161972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回收期 0.6—3.7 年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来源：官方公告（0.5-2、0.6-1/2/5/7、0.1-B8）＋本报告演算 · 关联方收入占比公开财报未拆分（20%—62% 为代理，置信 Low）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需求缺口算术与五路径承载力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五路径并非互斥集合：先扣重叠，再谈承载力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①劳动替代套利（企业工资池）实测 370 亿美元（2025）；②消费者订阅与广告（个人钱包）约 250—350 亿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③企业软件 AI 溢价（SaaS/Office 加价传导）约 300—500 亿；⑤主权与公共部门（国家资本）约 320—450 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④云商利润池自我消化：约 2000—3000 亿——不产生外部新收入（左口袋到右口袋），单列计“资金来源”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加总规则：外部收入＝①＋②＋③＋⑤−重叠项（①∩③ 约 100—200 亿）；禁止简单堆叠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4724"/>
          <a:ext cx="11094415" cy="914400"/>
        </p:xfrm>
        <a:graphic>
          <a:graphicData uri="http://schemas.openxmlformats.org/drawingml/2006/table">
            <a:tbl>
              <a:tblPr/>
              <a:tblGrid>
                <a:gridCol w="136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8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钱从哪个池子来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当期量级（2026）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重叠关系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劳动替代套利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企业工资池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 370 亿美元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与③重叠（同一企业预算）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消费者订阅与广告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个人钱包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250—350 亿美元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与①③基本不重叠（C 端独立）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企业软件 AI 溢价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SaaS/Office 加价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300—500 亿美元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与①重叠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云商利润池自我消化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既有业务现金流内部转移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2000—3000 亿美元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不产生外部新收入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主权与公共部门采购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国家资本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320—450 亿美元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与④部分重叠（主权合同经云商）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来源：Menlo Ventures（2.0-4）＋本报告各节演算（2.6—2.10）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需求缺口算术与五路径承载力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路径①：池子 27 万亿，渗透率仅 0.137%，瓶颈在组织兑现率 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工资池 W≈25—30 万亿美元/年（全球劳动收入 60—63 万亿 × 可触达 40—48%），中心 27 万亿；美国子锚 10.5 万亿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当期渗透率 p₀＝370 亿 ÷ 27 万亿＝0.137%（美国口径 0.35%/0.21%）——不足 0.4%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双源交叉锁定：结构分解反解 k≈2.3%，与 MIT NANDA“95% 组织未见投资回报”（约 5%）数量级吻合 → k≈2—5%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条件情景：基准（k 爬至 10—35%）1600—5700 亿/年；激进（p 达 2—5%，历史无先例）5400—13500 亿；悲观（k 停滞 5%）约 810 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曲线出处审计：“3—7 年”无权威出处，降格为分析性推断；若取上限，2028—2032 或现“承诺刚性交付 vs 收入尚未爬起”空窗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8862" y="3956685"/>
            <a:ext cx="15052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工资池 27 万亿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5577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2217" y="3956685"/>
            <a:ext cx="161858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s技术 30%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2515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9154" y="3956685"/>
            <a:ext cx="161858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k（2—5%→10—35%）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9452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2332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c 20%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3639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9270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路径①收入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来源：ILO/FRED（2.0-7/8）、Menlo（2.0-4）、MIT NANDA（2.0-10）＋本报告演算 · 情景均为条件语句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需求缺口算术与五路径承载力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路径②③⑤合计约千亿级，④已近满负荷、缺口溢出进债务层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②消费者：ChatGPT 订阅 5000 万付费×20 美元×12＝120 亿＋企业档约 27 亿 ≈ 150 亿；行业 250—350 亿/年，占缺口约 4.6%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60473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③企业软件：Copilot 牌价 30 美元/席/月（假设 3000 万—1 亿席）→ 上界 360 亿/下界 108 亿；行业 300—500 亿，占缺口约 6.1%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39618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④自我消化：H1-2026 CapEx/OCF 达 96%，隐含 2026 FCF 仅约 290 亿——一年内压缩 85%；边际增量 1100—1800 亿 &lt; capex 年增 3100 亿 → 结构性溢出进债务层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818763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⑤主权：当期 320—450 亿/年，占缺口约 5.9%；若法/沙/阿计划兑现，2028—2030 年化 500—1000 亿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402201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主权买方不按偿付逻辑出牌：既可填塞缺口，也可能因地缘/财政一夜撤单——不可外推，只能监测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914400"/>
        </p:xfrm>
        <a:graphic>
          <a:graphicData uri="http://schemas.openxmlformats.org/drawingml/2006/table">
            <a:tbl>
              <a:tblPr/>
              <a:tblGrid>
                <a:gridCol w="1256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核心演算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占缺口（中心 6550 亿）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消费者订阅与广告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 万×$20×12＝120 亿＋企业档 27 亿≈150 亿；行业 250—350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≈4.6%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企业软件溢价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亿席×$30×12＝360 亿上界 / 3000 万席＝108 亿下界；行业 300—500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≈6.1%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云商自我消化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OCF≈7000÷0.96≈7290 亿 − capex 7000 亿 ≈ FCF 290 亿（2025 为 1913 亿）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承载 2000—3000 亿（非收入）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主权采购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主权口径 300 亿＋经云商 20—30 亿 → 320—450 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≈5.9%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来源：微软定价页（2.0-3）、ChatGPT 用户数据（2.0-2）、SimianX（0.1-A6）、Nvidia 拆分（2.0-6）＋本报告演算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· 需求缺口算术与五路径承载力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基准覆盖率 25—30%；承诺方在赌“悲观不发生”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当期填塞结构：中心缺口 6550 亿 ≈ ④内部挪用 2000—3000 亿＋债务/股权融资 3550—4550 亿；实测债务年化约 1710 亿 ≈ 需求的四至五成（下界）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条件情景（capex 外推 1.22—2.44 万亿）：基准外部收入 3200—8900 亿 → 机械中值 33%，k 加权合理中心 25—30%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激进情景 7800—17400 亿 → 覆盖 32—143%，其成立条件（k 从 ~2% 跃至 50%+）恰是第 7 章不连续分支的触发条件本身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 vs 现实：C 口径承诺年化（1300—2300 亿）与悲观情景外部收入（1660—2060 亿）大体相当——供给侧签约直接转化为偿付压力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4724"/>
          <a:ext cx="11094415" cy="914400"/>
        </p:xfrm>
        <a:graphic>
          <a:graphicData uri="http://schemas.openxmlformats.org/drawingml/2006/table">
            <a:tbl>
              <a:tblPr/>
              <a:tblGrid>
                <a:gridCol w="1256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0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金额（亿美元/年）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①＋②＋③＋⑤−重叠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1140—1470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外部收入（滞后锚口径，保守下界）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内部挪用（单列）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2000—3000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非收入，计资金来源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capex（分母）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6950—10000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 主口径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4450—8550（中心 6550）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2.3 演算一致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填塞：④＋外部融资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2000—3000＋3550—4550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实测债务年化约 1710 亿 ≈ 需求 38%—48%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878068"/>
            <a:ext cx="11094415" cy="413004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878068"/>
            <a:ext cx="54864" cy="413004"/>
          </a:xfrm>
          <a:prstGeom prst="rect">
            <a:avLst/>
          </a:prstGeom>
          <a:solidFill>
            <a:srgbClr val="0B2F4E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5896356"/>
            <a:ext cx="10710367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赛跑方向学：R 改善有两种成因——分子驱动＝健康、分母坍缩＝病理，必须双斜率同读；比值升 ≠ 缺口缩；若 Agent 能力跃迁使 k 数量级跳升，全部流量算术改写（保留第 7 章）。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来源：本报告 2.11 分步演算 · 全部远期情景为条件语句，不作方向押注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· CHAPTER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会计解剖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折旧裂缝 · 循环合约收入三重折扣 · 监管前哨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· 会计解剖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折旧年限 5—6 年 vs 芯片寿命 2—3 年：裂缝约 2—3 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Microsoft/Google 折旧 4 年→6 年（FY23 起），MSFT 运营收入 +$3.7B、GOOG 折旧 −$3.9B（High）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64766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Amazon 2024 延至 6 年、2025 部分缩回 5 年；Meta 5→5.5 年（Medium）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48204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neocloud 分化：CoreWeave 6 年直线、Lambda 约 5 年、Nebius 仅 4 年（High）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231642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行业公认芯片技术有效寿命 2—3 年，高利用率下更短（Medium）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815080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本章是会计政策裂缝测绘，非行为定性；“欺诈”一词不出现（无一手证据）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914400"/>
        </p:xfrm>
        <a:graphic>
          <a:graphicData uri="http://schemas.openxmlformats.org/drawingml/2006/table">
            <a:tbl>
              <a:tblPr/>
              <a:tblGrid>
                <a:gridCol w="1683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主体/类别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折旧年限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置信度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 服务器+网络设备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年→6 年（FY2023 起）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服务器+网络设备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年→6 年（2023-01）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Amazon（AWS）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 延至 6 年；2025 部分缩回 5 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年→5.5 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CoreWeave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年直线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Nebius / Lambda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年 / 约 5 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行业公认芯片技术有效寿命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2—3 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来源：公司财报/SEC 文件（0.1-C1/C2/C3）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· 会计解剖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单卡年折旧缺口 $4,167：技术口径下 H100 租金已入亏损区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会计口径年折旧 $4,167 vs 技术寿命口径 $8,333，单卡年缺口 $4,167（$25,000 单卡，估算·低）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三年点账面仍剩 $12,500 未提足＝隐性减值；行业年缺口数百亿美元，与 Burry 估 $176B/2026—2028 同量级（Medium）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折旧小时线：会计 $0.60/h vs 技术 $1.19/h（年利用 7,000h，估算·低）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一年期长约 $2.10—2.70：高于会计成本线 $1.5—1.8，低于技术口径含运营线约 $3/h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敏感性：寿命 2.5 年→缺口 $5,833；4 年→$2,083；若运营成本＜折旧 1.3 倍，技术性亏损结论反转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1276" y="3956685"/>
            <a:ext cx="207209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长约 $2.10—2.70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4812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2062" y="3956685"/>
            <a:ext cx="216721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会计成本线 $1.5—1.8（未交叉）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40984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9415" y="3956685"/>
            <a:ext cx="234602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技术口径 ~$3/h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（已交叉=技术性亏损区）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87155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5587" y="3956685"/>
            <a:ext cx="23460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B200 $3.68/h 承接新一代溢价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来源：租金曲线 0.5-3（High）· 演算为本报告估算（置信度低）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· 会计解剖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传导链四环：利润表“合法刷高”通向信用断点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环1：折旧是非现金费用，年限拉长利润即升（MSFT +$3.7B）而现金流出不变，麻醉外部对现金流质量的警惕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环2：退役芯片按 1/3 账面计价，减值测试被推迟，制造“资产仍在运转”幻觉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环3：EBITDA 被折旧不足额系统性注水；若评级用注水 EBITDA 而非现金流，偿付断点被后移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环4：当且仅当收入斜率不足以覆盖真实经济折旧＋展期利息，断点在信用层兑现；若收入快增（路径①），裂缝可长期不爆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骨牌顺序（最杠杆层→抵押→capex→芯片/HBM→能源→搁浅）移交第 5 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折旧拉长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5577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8457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账面利润↑/现金流不变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2515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5395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减记延后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9452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2332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偿付指标注水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3639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9270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（条件成立时）信用层断点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来源：本报告第 2—4 章交叉推演 · 全程条件句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· 会计解剖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循环合约收入三重折扣：账面收入≠净可支配现金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总额法 vs 净额法（ASC 606 控制权测试）：Nebius ICFR 缺陷已含 TripleTen 收入确认（Medium）；Anthropic 或 gross 列报（Low）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若净额法普遍适用，循环采购收入份额下调→6550 亿缺口方向为扩大（条件句）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前置效应：签约制确认会把 C 口径年化约 1300—2300 亿混入当期，R 比值 0.23 被虚增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关联方折扣：OpenAI 向微软付约 20% 收入分成、至 2030 上限 $38B（High）；$40B ARR 是否已净分成未披露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7157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三力共同压低“账面收入→净现金”转换率，是传导链的收入端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2285"/>
          <a:ext cx="11094415" cy="914400"/>
        </p:xfrm>
        <a:graphic>
          <a:graphicData uri="http://schemas.openxmlformats.org/drawingml/2006/table">
            <a:tbl>
              <a:tblPr/>
              <a:tblGrid>
                <a:gridCol w="1159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折扣源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关键数字/证据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总额法 vs 净额法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 606 控制权转移测试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Nebius TripleTen 收入确认 material weakness；Anthropic 或 gross 列报（Low）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多年期收入前置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签约制把 C 口径混入当期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口径年化 1300—2300 亿；R 比值 0.23 或被虚增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关联方折扣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采购方兼股东，市场价格存疑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微软分成约 20%、上限 $38B（High）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来源：公司披露/FTC 6(b)/20-F（0.5-4、3.0-6）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· 会计解剖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监管未出手，但前哨信号已在 2025—26 密集出现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截至执行日未核验到 SEC 就 GPU 折旧/循环收入确认的任何执法、意见信或问询（High）；做空机构亦未发布正式报告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 SEC Rule 192 规则制定请愿（petn4-903/910，2026-06/07）要求分拆披露云收入与算力资产老化；请愿≠执法（High）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FTC 6(b) 报告披露 Google 向 Anthropic $100 亿 cloud credits（High）；性质为竞争研究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Nebius FY25 审计 ICFR Adverse＋两项 material weakness——“审计第三防线先于监管出手”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878068"/>
            <a:ext cx="11094415" cy="413004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878068"/>
            <a:ext cx="54864" cy="413004"/>
          </a:xfrm>
          <a:prstGeom prst="rect">
            <a:avLst/>
          </a:prstGeom>
          <a:solidFill>
            <a:srgbClr val="0B2F4E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5896356"/>
            <a:ext cx="10710367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Insull 对照：1932 接管、1934/35 两次审判均无罪；PUHCA 1935 为崩后制度回应——结构对照，不将历史罪名平移当代。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来源：SEC 请愿/FTC/20-F（High/Medium）· Insull 口径 3.0-8/9/10（Medium）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· CHAPTER 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信用脆弱性图谱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最软层先行 · 到期墙 · 三类发行人 · GPU 抵押折扣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· 信用脆弱性图谱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最软层最先调整：$100B 框架搁置是第一次实证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四层资金由软到硬：母体资产负债表投资→隐性信用背书→项目级 SPV 债务→一级抵押物杠杆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2025-09-22 公告：OpenAI 部署 ≥10GW 系统、每 1GW 逐步投资至最高 $100B（Medium）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2026-01 框架搁置，10-Q 明示 no assurance；落点 OpenAI Series I $30B 股权（2026-02-27，同轮 Amazon $50B、SoftBank $30B）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判读：调整从最软层开始；同期 Stargate $38B 银团等硬债务一个未动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越硬越晚调整；但越硬，调整时越像“断裂”而非“搁置”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软：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$100B 股权承诺（已搁置）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4812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7692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$30B Series 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40984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3864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PORTS-Pike 担保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87155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035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硬：$38B 银团（未动）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来源：0.1-B6、0.5-2、0.6-4/9（Medium）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· 信用脆弱性图谱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到期墙＝新增＋滚动叠加，年化 3830—4970 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capex 走廊 1.22—2.44 万亿；缺口中心 6550 亿/年；融资型需求 3550—4550 亿/年（Medium）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2025—26 实测：表内长期债 +2099 亿（1340→3419 亿）+ 私募信贷 1250 亿 + 银团/SPV 约 72 亿 ≈ 3420 亿/两年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 40—60% 短档落 2027—29 到期 → 840—1260 亿 → 年化 280—420 亿/年（估算·低）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叠加＝3830—4970 亿/年，比单看新增高约 8%（已校正到期块误当年化的高估）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成立条件：capex 继续攀顶＋短档占比假设成立（Low）；私募 1250 亿压力在利率上行期的展期成本，非到期洪峰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capex 走廊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5577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8457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 6550 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2515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5395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融资型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3550—4550 亿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9452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2332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短档到期 280—420 亿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3639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9270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3830—4970 亿/年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再融资窗口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来源：0.1-A6/C8、0.5-1、2.3/2.11-B · 估算值·置信度低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· 信用脆弱性图谱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三类发行人三种断裂：削 capex、资产处置、违约清算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母体 FCF 背书：四大云长期债 3419 亿、FCF 1913 亿、CapEx/OCF 96%；几乎不以违约断裂，而以削减 capex/回购/分红断裂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项目级 SPV 无追索：断裂条件＝承购人付款能力×无追索兜底缺失×处置不足，三因子同时成立；OpenAI 覆盖比仅 0.43—0.53 倍（紧张信号）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纯玩家杠杆：偿付唯一来源＝GPU 租金；断裂条件＝有效租金 &lt; DDTL 当期偿债额；Domino #1 候选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Meta-Blue Owl JV：Blue Owl 持 80%、Meta 仅 20%——JV 断裂不直接等于 Meta 债务断裂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7157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抵押品贬值敏感度：(a) 最钝 &lt; (b) 中等 &lt; (c) 最急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2285"/>
          <a:ext cx="11094415" cy="914400"/>
        </p:xfrm>
        <a:graphic>
          <a:graphicData uri="http://schemas.openxmlformats.org/drawingml/2006/table">
            <a:tbl>
              <a:tblPr/>
              <a:tblGrid>
                <a:gridCol w="1456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7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存量代表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偿付来源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断裂形态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(a) 母体 FCF 背书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四大云长期债 3419 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母体现金流（投资级）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削 capex/回购，非违约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(b) 项目级 SPV 无追索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≈$106B（Stargate 38＋密歇根 16＋新墨西哥 18＋Oracle SPV 34）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承购人租约付款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银团重组/资产处置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(c) 纯玩家杠杆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CoreWeave &gt;$325 亿；Nebius $7.75 亿；xAI $125 亿债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租金（唯一来源）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DDTL 违约/清算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来源：0.1-A6/C5/C9、0.5-1、0.6-8、2.4-2 · 金额多为媒体口径（Low–Medium）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· 信用脆弱性图谱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抵押折扣 16%—85%：按技术寿命而非账面放贷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单卡毛租金 $14,700—18,900/年（$2.10—2.70×7,000h），会计净现金流 $2,100—8,400/年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可贷值＝净现金流×2—3 年技术寿命年金现值（折现 10%）：$3,654—20,900（估算·低）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haircut＝1−可贷值/账面 $25,000＝16%—85%；若转技术口径（净现金流≤0），可贷值趋近 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快速贬值假说“部分成立”：GPU 年贬 30—50% 提供独立于收入恶化的触发通道（历史周期所无），但需 LTV 条款+无展期意愿+无兜底三条件同时满足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烈度排序 (c)&gt;(b)&gt;(a)；是“第 4 层可能先于历史周期断”的结构论据，非方向性结论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7138" y="3956685"/>
            <a:ext cx="15169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 $25,000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5577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9354" y="3956685"/>
            <a:ext cx="1631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净现金流×技术寿命年金折现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2515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5395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可贷值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$3,654—20,900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9452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2332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haircut 16—85%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36390" y="3956685"/>
            <a:ext cx="2306665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9270" y="3956685"/>
            <a:ext cx="203234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技术口径→趋近 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来源：本报告 4.4 演算（估算值·置信度低）· 0.1-C6/C14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· 信用脆弱性图谱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硬着陆信用敞口 1350—2180 亿/年，仅为缺口的 1/4—1/3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债务融资占比＝实测 1710 亿 ÷ 3550—4550 亿＝38%—48%（下界；分子未完全捕获，真实占比可能更高）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硬着陆需处置的仅是债务承担部分：3550—4550×38—48% ≈ 1350—2180 亿/年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即敞口约为缺口总额 6550 亿的 1/4—1/3（约 21—33%）；峰值叠加到期墙后收窄至“约小 1/2—2/3”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高违约概率集中在 (c) 类纯玩家（数百亿级）；(a) 类不走违约、(b) 类走资产处置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FCF→信用迁移：五大 Big Tech CapEx/OCF 96%（2024 年 50%、2025 年 68%）；年化 1710 亿由信用层承接边际资金职能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 6550 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4812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7692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融资型 3550—4550 亿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（占 54—69%）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40984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3864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×债务 38—48%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87155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035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信用敞口 1350—2180 亿/年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来源：0.1-A6/C8、0.5-1、2.3 第 6 步 · 该参数已登记为第 7 章输入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· CHAPTER 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五级骨牌序列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租赁商 → L2 抵押 → L3 capex → L4 芯片/HBM/PPA → L5 搁浅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· 五级骨牌序列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五级骨牌总览：条件地图，不是时间预测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回答“每一级在什么条件下倒、有何可见信号、凭什么可能不倒”；不回答综合烈度（第 7 章）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传导自硬到软：L1 租赁商→L2 抵押→L3 capex→L4 芯片/HBM/PPA→L5 搁浅资产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预警时间梯度：数周–1季→1–2季→2–4季→4–8季→12–36个月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每级必附“不倒条件”——只写倒塌路径不写存活条件即为违纪；当前各级均未触发</a:t>
            </a:r>
            <a:endParaRPr lang="en-US" sz="10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4724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7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骨牌（硬→软）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触发条件（若X则Y）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可观测指标·当前读数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预警时间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9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最杠杆算力租赁商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有效租金&lt;当期偿债额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CoreWeave DDTL $11.6B/总债 $325B+；H100 长约 $2.10—2.70 vs 会计线 $1.8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数周–1季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抵押利差+追保潮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抵押贬值超 covenant→LTV 触发掏押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利差 SOFR+2.25%（0溢价）；三分档 30/60/85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后 1–2 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 指引下修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指引连续 2 季下修/capex-OCF 反向收敛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指引 ~7050—7450 亿；capex/OCF 96%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后 2–4 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芯片订单→HBM→能源 PPA 重谈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订单下修→HBM 高价反转+PPA 重谈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现货=长协 4—5 倍；HBM4 $31—32/GB；PPA 已现 FERC 纠纷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后 4–8 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搁浅数据中心 &amp; dark fiber 2.0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前四级阻断投资→空置/减记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在建规模（SPV 已批）；空置率缺权威读数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12—36 个月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来源：ch4 4.3/4.4、0.1 系列、0.8 系列 · 全表为条件句框架 · 不倒条件：长协锁价/折扣稳 30% 档/回报斜率超 capex/HBM 短缺真实/迭代降速再利用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· 五级骨牌序列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第一级：长约跌破 $1.8/h 即条件触发，当前未触发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触发：主力卡一年期长协跌破约 $1.8/h 会计成本线下沿→净现金流≤0→无法覆盖 DDTL 息本→违约/清算；当前 $2.10—2.70 仍保有毛利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读数：CoreWeave 总债超 $325 亿（DDTL $8.5B+$3.1B）；Nebius $7.75 亿双抵押+微软合同约 $194 亿/5 年、ICFR Adverse；xAI $75 亿股权+$125 亿债务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关键哨＝长约曲线是否向 $2.10→$1.8 滑动，而非现货价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预警：数周–1 季（租金月/季频重定价、抵押条款季重置）；置信度 Medium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878068"/>
            <a:ext cx="11094415" cy="413004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878068"/>
            <a:ext cx="54864" cy="413004"/>
          </a:xfrm>
          <a:prstGeom prst="rect">
            <a:avLst/>
          </a:prstGeom>
          <a:solidFill>
            <a:srgbClr val="0B2F4E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5896356"/>
            <a:ext cx="10710367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不倒条件：(i) 长协锁价≥会计线 (ii) 母公司信用兜底（xAI–SpaceX/Nvidia、Nebius–微软）(iii) 推理需求撑住利用率。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来源：0.1-C5/C9、0.5-3、0.6-8、3.0-6 · 金额为媒体口径（Medium）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· 五级骨牌序列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追保三分档 30/60/85：最被低估的骨牌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069080" cy="66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期限结构判定：3420 亿−墙内 840—1260 亿＝2160—2580 亿（63—75%）在 2028 年后到期；但快速变量由抵押条款决定、不由期限决定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60473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演算：初始 LTV 55%、covenant 70%；抵押年贬 30%→LTV 78.6%，第 1 年末即可触发追保（估算·低）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43911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市场当前按“投资级、零溢价”（SOFR+2.25%/约 5.9% 固定）为 GPU 抵押定价——等于未计入快速变量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27349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触发：折扣进入 60% 档（或 LTV 条款+无展期意愿+无兜底任一成立转移到 (c) 类）→追保潮、利差系统性走阔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10787"/>
            <a:ext cx="4069080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不倒条件：折扣稳于 30% 档／新卡（B200/HBM4）高溢价托住旧卡转售价／贷方有展期意愿</a:t>
            </a:r>
            <a:endParaRPr lang="en-US" sz="11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476695" cy="914400"/>
        </p:xfrm>
        <a:graphic>
          <a:graphicData uri="http://schemas.openxmlformats.org/drawingml/2006/table">
            <a:tbl>
              <a:tblPr/>
              <a:tblGrid>
                <a:gridCol w="1295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抵押折扣档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重估抵押值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追保缺口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处置含义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30%（温和）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6（约原抵押 6%）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可现金/芯片补仓，追保后继续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60%（中档）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137.5%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27（约原抵押 27%）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补仓压力陡增，触发利差走阔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85%（重档）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366.7%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44.5（约原债务 81%）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无现实补仓空间→强制清算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92040" y="1481328"/>
            <a:ext cx="0" cy="4809744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来源：0.1-C6/C14、0.5-1、ch4 4.2/4.4 · 追保演算为估算（参数为假设）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· 五级骨牌序列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中段传导：capex 下修沿芯片—HBM—能源链传递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触发：2026 指引 ~7050—7450 亿连续两季下修，或 capex/OCF 自 96% 反向收敛+回购分红暂停；WorldCom 为“capex 被财务塌陷踩停”原型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读数：Amazon ~2200 亿（上调）、Google 1800—1900、Meta 收窄 1300—1450、MSFT 1750—1900——“个别收窄、整体仍上”，未触发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触发：订单下修→HBM 从现货=长协 4—5 倍（$2100 vs $350—500）反转，供给刚性（SK 54 万亿韩元扩产、三星 70% 产能锁至 2031）使合约价下修最陡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读数：HBM4 $31—32/GB≈HBM3E 两倍；Georgia Power–OpenAI 3.2GW/$200 亿已批但预置终止条款；MS–PowerHouse FERC 重谈纠纷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L3 后 4—8 季；不倒条件：回报斜率超 capex 增速/电力并网物理性限速（非病理）/HBM 短缺真实/PPA 刚性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capex 指引连续下修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4812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7692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芯片订单压缩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40984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3864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现货/长协价差反转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87155" y="3956685"/>
            <a:ext cx="285590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035" y="3956685"/>
            <a:ext cx="25815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PPA 由锁定转重谈/降负荷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2026-09-07 · 来源：0.1-A3/A6、0.6-13（High/Med）、0.8-1~0.8-6（Medium）· HBM 价格为分析师估算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· 五级骨牌序列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搁浅≠技术失效；到期墙只是条件放大器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触发：前四级阻断投资→在建设施空置→减记+信贷断裂；但过剩同时沉淀“廉价算力+廉价带宽”——dark fiber 1.0 遗产逻辑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资产估值缩水与技术失效必须分离：前者计入信贷断点，后者是下一阶段需求底座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不倒条件：迭代节奏放慢→搁浅资产被长尾推理/边缘/企业 IT“折价再配置”，非全损终局（空置数据缺失，Low–Med）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到期墙＝条件放大器：全年附加 280—420 亿/年（约 +8%），仅当“再融资市场关闭”（rollover failure）才升级为悬崖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量化烈度强制绑定 4.5 口径：信用敞口占缺口 1/4—1/3（峰值收窄至 1/2—2/3），禁止以 6550 亿作信用冲击参数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194050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166618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租赁商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9421" y="3956685"/>
            <a:ext cx="194050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2301" y="3956685"/>
            <a:ext cx="166618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抵押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10202" y="3956685"/>
            <a:ext cx="194050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3082" y="3956685"/>
            <a:ext cx="166618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capex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0984" y="3956685"/>
            <a:ext cx="194050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1123" y="3956685"/>
            <a:ext cx="12489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芯片/HBM/PPA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71765" y="3956685"/>
            <a:ext cx="194050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4645" y="3956685"/>
            <a:ext cx="166618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搁浅资产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702546" y="3956685"/>
            <a:ext cx="1940509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85426" y="3956685"/>
            <a:ext cx="166618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 折价再配置出口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来源：0.5-1、0.6-6、0.1-C11/C12、ch4 4.5/4.2 · L5 置信度 Low–Med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· CHAPTER 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历史周期结构对照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1840s 铁路 · 1920s 公用事业 · 1990s 电信 · 2020s 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· 历史周期结构对照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四轮超级资本周期同构：融资形态与断裂方式耦合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四周期＝1840s 铁路 / 1920s 公用事业 / 1990s 电信 / 2020s AI；六维度＝融资/需求/会计/断裂/后果/遗产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同构核心：顶层出资远小于控制资产、需求斜率决定偿付、账面与现金流脱钩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本轮差异集中在循环结构尺度、抵押品贬值速度、缺口形式化可见性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本章是结构地图不是方向押注：不产生新断裂点预测、不写三情景</a:t>
            </a:r>
            <a:endParaRPr lang="en-US" sz="10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4724"/>
          <a:ext cx="11094414" cy="3610356"/>
        </p:xfrm>
        <a:graphic>
          <a:graphicData uri="http://schemas.openxmlformats.org/drawingml/2006/table">
            <a:tbl>
              <a:tblPr/>
              <a:tblGrid>
                <a:gridCol w="814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0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0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1840s 铁路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1920s 公用事业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1990s 电信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2020s AI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融资形态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股权为主；铁路股占市值 63—71%(1848)；峰值投资约 GDP 5.7—7%(1847)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顶层股权 $2700 万控 $5—40 亿；多层叠加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 峰值 $1,131 亿(2000)；卖方融资 Lucent $81 亿/Nortel $31 亿；WorldCom 债 $410 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FCF→债→私募→GPU 抵押→SPV 逐层迁移；CapEx/OCF 96%；缺口 6550 亿/年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需求真实性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1/3 获批线路未建成；股息承诺 7—10%→实际 2%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 1920s 高增、1930s 下坠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光纤建设约 $5,000 亿；2002 点亮率 &lt;5%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循环采购占比高；真实降本锚存在但 k=2—5% 瓶颈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会计手法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Hudson 从资本付息；1844 法案无折旧强制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多层控股+关联交易；两次无罪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WorldCom 虚增累计约 $110 亿；Lucent $11.48 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折旧拉长+前置确认为“合规内激进”；Nebius ICFR weakness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断裂方式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1845—46 崩盘；1850 较峰值 −66%；1873 破产潮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1932 债权人拒续贷→接管；损失约 $8 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运营商 capex −18.2%(2001)；WorldCom/Global Crossing 破产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未触发偿付断点（截至执行日）；断裂条件见第 4/5 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社会后果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损失约 £230m（≈半年国民收入）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 万股东受损；PUHCA 1935 崩后立法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电信股 −75%；50 万+ 岗位流失；约 $2 万亿市值损耗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尚在建构期；触发形态未定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技术遗产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6,621 英里铁路网沉淀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电力网成为扩散底座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dark fiber 廉价带宽→云计算/流媒体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若过剩重演→廉价 GPU 推理拓宽 AI 应用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历史核验执行日 2026-09-07 · 来源：TIA/FCC、SEC、公开资料整理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· 历史周期结构对照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真实需求锚是共同宣称，差异在当期兑现占比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融资：铁路/电信/AI 三轮同以“外部资金承接供给侧扩张”为枢纽；头部盈利≠偿债安全（Lucent 2000 营收 $338 亿仍现坏账）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需求：约 1/3 铁路获批线路未建成；2002 光纤点亮率 &lt;5%；AI 渗透率仅 0.137%、组织兑现率 k=2—5%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会计：WorldCom 累计虚增约 $110 亿；AI 为“合规内激进”+ICFR 制度化预警，更难事后归类为欺诈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断裂双口径：运营商 capex 单年 −18.2%(2001) vs 设备商营收 Lucent 2002 财年 −42%——勿用供给侧降幅冒充需求降幅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遗产：6,621 英里铁路网、电力网、dark fiber——每轮过剩沉淀下一轮底座，但技术存续≠当期资产不缩水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来源：TIA/FCC、SEC、公开资料整理（置信度随数字走）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· 历史周期结构对照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七项候选差异验证后，仅四类“本轮不同”成立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验证规则：逐点“验证→但相同→净裁定”，未通过者不作硬论断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净结论：结构骨架高度同构，“不同之处”是尺度与速度的极端化，而非机制更替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边界：历史同构≠当期预言，不平移任何历史罪名/结局至当代主体</a:t>
            </a:r>
            <a:endParaRPr lang="en-US" sz="10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47163"/>
          <a:ext cx="11094415" cy="3880486"/>
        </p:xfrm>
        <a:graphic>
          <a:graphicData uri="http://schemas.openxmlformats.org/drawingml/2006/table">
            <a:tbl>
              <a:tblPr/>
              <a:tblGrid>
                <a:gridCol w="147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候选差异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净裁定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置信度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真实降本锚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采用（窄义：锚已形式化、可量化；证在 k 兑现 2—5%）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头部企业真实盈利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采用（仅供给侧信号，不构成偿债端安全证明）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循环结构更极端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采用（机制非首创，差异在尺度与跨行业度）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抵押品自带贬值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采用（贬值速度差异：GPU 半年一代 vs 光纤数年）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缺口算术形式化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采用（方法差异，降权为次要点）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Medium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现货按边际成本定价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相同偏强（dark fiber 已先到达该态）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降权 Low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信用敞口占比低于电信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部分采用（仅方向性表达，不做倍差量化）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来源：公开资料整理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· CHAPTER 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多方博弈与情景推演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言行一致性 · 结构约束 · 三情景 · 不连续分支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· 多方博弈与情景推演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言行一致性缺口最重处，就是博弈破绽所在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八类节点归并六主体：SPV 并入债权市场、电力/地理归结构约束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Nvidia：底线“绑定客户防流失”，背书从出钱转出信用（$30B 股权+PORTS-Pike 隐性担保）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OpenAI：覆盖比 0.43—0.53 vs 承诺簿 0.60—1.40 万亿——公开目标与潜在动机方向相反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云商：CapEx/OCF 96%、长债 +2099 亿；断裂不倒自己、先倒下游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7157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债权市场信息视野全网最劣、扩张建立在“快速变量未走”定价上；主权买家只监测不外推</a:t>
            </a:r>
            <a:endParaRPr lang="en-US" sz="10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2285"/>
          <a:ext cx="11094415" cy="3340230"/>
        </p:xfrm>
        <a:graphic>
          <a:graphicData uri="http://schemas.openxmlformats.org/drawingml/2006/table">
            <a:tbl>
              <a:tblPr/>
              <a:tblGrid>
                <a:gridCol w="814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公开目标（声明）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潜在动机（变数）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言行一致性缺口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破绽位置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绑定客户（500 亿股权）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轻资产信用背书（PORTS-Pike 担保）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中——已显形为担保，仍是表外或有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担保额未公开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9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ARR 斜率追上交付（覆盖比→1）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承诺簿扩张（0.60—1.40 万亿）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高——方向相反（覆盖比 0.43—0.53 vs 簿还在长）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2.4-2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超大规模云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回报斜率超 capex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多中心占位（排他解除后）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中——占位竞争推高 capex/OCF 至 96%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0.1-A6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9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算力租赁商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长协锁价 ≥ $1.8/h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双抵押扩张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高——扩张恰放大核心风险敞口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0.6-8、4.3-C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9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债权市场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利差与条款维持现状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私募份额扩张（17%→33%）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高——建立在“快速变量未走”的定价上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0.1-C8、4.4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9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主权买家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算力主权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只监测不外推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基线截至 2026-09-06 · 来源：公开资料整理（置信度随数字走）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· 多方博弈与情景推演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破局点在技术迭代与制度折旧的错配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地理与资源最强且稳：HBM 现货 $2100＝长协（$350—500）的 4—5 倍；三星 70% 产能锁至 2031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电网为部署真实限制器：美国并网队列约 2600 GW、ERCOT 大型负荷队列约 410 GW（2026-04，Low）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制度最弱但可速变：SEC 两项 Rule 192 请愿为最高权重项——唯一可被单一行政动作速变的维度，且方向与历史“崩后立法”相反（崩前窗口）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401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快速变量不是任何参与方的选择，是技术节奏对制度节奏的碾压</a:t>
            </a:r>
            <a:endParaRPr lang="en-US" sz="10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4724"/>
          <a:ext cx="11094415" cy="914400"/>
        </p:xfrm>
        <a:graphic>
          <a:graphicData uri="http://schemas.openxmlformats.org/drawingml/2006/table">
            <a:tbl>
              <a:tblPr/>
              <a:tblGrid>
                <a:gridCol w="102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8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8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对各方的锁定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地理与资源格局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稳（HBM 锁至 2031 + 电力物理约束）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锁死所有扩张路径的速率上限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技术与设备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正在变（半年一代迭代 vs 制度 5—6 年折旧，错配扩大）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快速变量错配：技术节奏碾压制度节奏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最弱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变量最大（请愿两件在途+FTC 研究+ICFR 已现，三重前哨、零执法）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唯一可被单一事件速变的维度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来源：公开资料整理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· 多方博弈与情景推演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斜率之上全是合作，斜率之下全是绞杀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不可逆大势：工资池 W≈27 万亿、渗透率 p₀＝0.137%、k＝2—5% 双源交叉锁定——降本驱动不随情绪逆转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动能四池：承诺堰塞湖（缺口中心 6550 亿/年）、GPU 抵押贬值势能（30—50%/年、折扣 16—85%）、FCF 收缩（CapEx/OCF 96%）、浮盈回吐敞口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五个出口：capex 指引下修、头部估值下修轮、算力债信用事件、SEC 请愿处置、会计准则变化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权重纪律：主驱动＝快速变量（抵押条款）；到期墙 280—420 亿/年仅为计时器与放大器——不看到期日历、看抵押条款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最深冲突：芯片商越成功、债权人抵押品越缩水——供给端与信用端利益长在同一块资产上、方向相反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377129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349697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动能池（承诺/抵押贬值/FCF/浮盈）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10202" y="3956685"/>
            <a:ext cx="377129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3082" y="3956685"/>
            <a:ext cx="349697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出口映射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71765" y="3956685"/>
            <a:ext cx="377129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4645" y="3956685"/>
            <a:ext cx="349697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capex 下修 · 估值下修 · </a:t>
            </a:r>
            <a:b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</a:br>
            <a:r>
              <a:rPr lang="en-US" sz="9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信用事件</a:t>
            </a: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SEC 处置 · 准则变化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基线截至 2026-09-06 · 来源：公开资料整理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· 多方博弈与情景推演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三情景是条件组合，不是方向预测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配对纪律：硬着陆↔13%角、软着陆↔73%角（均为反向叠加·边界情景，不作主陈述）；慢消化↔26—36% 同向带＝唯一主参照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7888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单触发不倒、多触发共振才升级；每级倒须先证不倒条件全失效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7645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时间窗口均为 Low 置信（空窗 2028—2032）：结构撞点确定、何时扣动不确定</a:t>
            </a:r>
            <a:endParaRPr lang="en-US" sz="10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47163"/>
          <a:ext cx="11094415" cy="914400"/>
        </p:xfrm>
        <a:graphic>
          <a:graphicData uri="http://schemas.openxmlformats.org/drawingml/2006/table">
            <a:tbl>
              <a:tblPr/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覆盖率配对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触发条件（若X则Y）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烈度输入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硬着陆（边界）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13%＝3200÷24400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有效租金跌破约 $1.8/h 且/或 60% 档追保，且 capex 指引连续 2 季下修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信用敞口 1350—2180 亿/年；抵押折扣 60% 档以上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三触发共振升级；租金企稳 ≥$1.8/h 两季且利差未走阔则降级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慢消化（主参照）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26—36% 同向带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比值改善但缺口额仍扩的黏着区，无 L1—L3 共振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敞口可控展期；抵押折扣 30—60% 档间偶发追保被承接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同向带参数不崩即维持——缺省参照系，“延宕+展期”非“无断点”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软着陆（边界）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73%＝8900÷12200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收入斜率 +50—100% 而 capex 回落至 +20—30%，R 于 2028—2030 触及 0.3—0.5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新增违约趋近 0；抵押折扣稳于 30% 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连续两季站上 0.3 或 B run-rate ≥5000 亿升级；capex 重回 +40%+ 则放弃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基线截至 2026-09-06 · 来源：公开资料整理（判读阈值：R 中心连续两季 ≥0.3 或 B 口径 run-rate ≥5000 亿）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· 多方博弈与情景推演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不连续分支是改写开关，不是第四情景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骨牌传导（引第 5 章定稿）：L1 租赁商违约→L2 抵押利差走阔+追保潮（主驱动）→L3 母体 capex 下修（落后 2—4 季）→L4 HBM/PPA 反转→L5 搁浅（12—36 个月最慢）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7.7 触发（条件句）：若 Agent 能力跃迁使 k 数量级跳升至 ≥35%，路径①收入升至 5400—13500 亿/年、五路径 7800—17400 亿/年、覆盖率 32—143% → L1—L5 断裂序列作废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分支是需持续观测证实的实证状态：k 连续两年维持 2—5% 即作废回落三情景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即便触发：改写的是缺口量级，存量债仍按原条件到期——信用敞口不归零，非“技术胜利=零断点”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67684"/>
            <a:ext cx="2306665" cy="115366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567684"/>
            <a:ext cx="2032345" cy="1153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租赁商违约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5577" y="3567684"/>
            <a:ext cx="2306665" cy="115366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8457" y="3567684"/>
            <a:ext cx="2032345" cy="1153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抵押利差+追保潮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42515" y="3567684"/>
            <a:ext cx="2306665" cy="115366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5395" y="3567684"/>
            <a:ext cx="2032345" cy="1153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capex 下修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9452" y="3567684"/>
            <a:ext cx="2306665" cy="115366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22332" y="3567684"/>
            <a:ext cx="2032345" cy="1153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HBM/PPA 反转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36390" y="3567684"/>
            <a:ext cx="2306665" cy="115366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9270" y="3567684"/>
            <a:ext cx="2032345" cy="1153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搁浅资产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434584"/>
            <a:ext cx="3771290" cy="745236"/>
          </a:xfrm>
          <a:prstGeom prst="chevron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5434584"/>
            <a:ext cx="349697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斜率上去 ↗ 软着陆/不连续分支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10202" y="5434584"/>
            <a:ext cx="3771290" cy="745236"/>
          </a:xfrm>
          <a:prstGeom prst="chevron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3082" y="5434584"/>
            <a:ext cx="349697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僵持 → 慢消化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71765" y="5434584"/>
            <a:ext cx="3771290" cy="745236"/>
          </a:xfrm>
          <a:prstGeom prst="chevron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4645" y="5434584"/>
            <a:ext cx="349697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斜率崩 ↘ 硬着陆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5878068"/>
            <a:ext cx="11094415" cy="413004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78068"/>
            <a:ext cx="54864" cy="413004"/>
          </a:xfrm>
          <a:prstGeom prst="rect">
            <a:avLst/>
          </a:prstGeom>
          <a:solidFill>
            <a:srgbClr val="0B2F4E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896356"/>
            <a:ext cx="10710367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7.8 结论：斜率上去→软着陆/不连续分支；斜率僵持→慢消化；斜率崩→硬着陆；何者兑现由监测指标实测裁决。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基线截至 2026-09-06 · 来源：公开资料整理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566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 · CHAPTER 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852928"/>
            <a:ext cx="146304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93268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后续监测与情景判读 ＋ 附录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10241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监测即判读 · 三梯队指标 · 分析方法说明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 · 后续监测与情景判读 ＋ 附录 · 分析方法说明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监测即判读：现金流类指标先于利润表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234440" cy="0"/>
          </a:xfrm>
          <a:prstGeom prst="line">
            <a:avLst/>
          </a:prstGeom>
          <a:noFill/>
          <a:ln w="28575">
            <a:solidFill>
              <a:srgbClr val="0B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280160"/>
            <a:ext cx="9859975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判读阈值：R 中心连续两季站上 0.3 或 B 口径 run-rate ≥5000 亿→“缺口命题”叙事强度单向下调，按 26—36% 同向带重标定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0329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三梯队指标：先行＝私募信贷条款/租金曲线/利差/请愿处置；确认＝capex 指引/融资轮估值/云商 FCF；滞后＝折旧减记/浮盈显影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59330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三处硬让步点：信用敞口升格、R 值下沉、算力租金曲线突破——单向修正、禁止双向同取、禁止小幅调整维持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48331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检查点日历：2027 年前每季、2028—2029 每半年、2030 起每年；事件型绊线即时触发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037332"/>
            <a:ext cx="11094415" cy="25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E7C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全景局信息性声明：证实断裂/证伪改写/政策截断各自产出信息；政策截断≠证伪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56685"/>
            <a:ext cx="377129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956685"/>
            <a:ext cx="349697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先行指标（条款/租金/利差/请愿）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10202" y="3956685"/>
            <a:ext cx="377129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3082" y="3956685"/>
            <a:ext cx="349697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确认指标（capex 指引/估值轮/FCF）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71765" y="3956685"/>
            <a:ext cx="3771290" cy="1207008"/>
          </a:xfrm>
          <a:prstGeom prst="chevron">
            <a:avLst/>
          </a:prstGeom>
          <a:solidFill>
            <a:srgbClr val="0B2F4E"/>
          </a:solidFill>
          <a:ln w="9525">
            <a:solidFill>
              <a:srgbClr val="0B2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4645" y="3956685"/>
            <a:ext cx="349697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滞后指标（减记/浮盈显影）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5878068"/>
            <a:ext cx="11094415" cy="413004"/>
          </a:xfrm>
          <a:prstGeom prst="rect">
            <a:avLst/>
          </a:prstGeom>
          <a:solidFill>
            <a:srgbClr val="F3F5F7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878068"/>
            <a:ext cx="54864" cy="413004"/>
          </a:xfrm>
          <a:prstGeom prst="rect">
            <a:avLst/>
          </a:prstGeom>
          <a:solidFill>
            <a:srgbClr val="0B2F4E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896356"/>
            <a:ext cx="10710367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附录·分析方法：自研结构化推演框架（利益相关方分析＋结构约束识别＋趋势判断＋情景推演），数据均来自公开来源。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数据截止 2026-09-06 · 来源：公开资料整理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672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6088" y="1828800"/>
            <a:ext cx="1645920" cy="0"/>
          </a:xfrm>
          <a:prstGeom prst="line">
            <a:avLst/>
          </a:prstGeom>
          <a:noFill/>
          <a:ln w="25400">
            <a:solidFill>
              <a:srgbClr val="2E7C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4028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比值升 ≠ 缺口缩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赛跑比值 R 必须双斜率同读：分子驱动＝健康 · 分母坍缩＝病理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何者兑现由监测指标实测裁决 —— R 中心连续两季 ≥0.3 或 B 口径 run-rate ≥5000 亿美元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78808" y="4434840"/>
            <a:ext cx="3840480" cy="0"/>
          </a:xfrm>
          <a:prstGeom prst="line">
            <a:avLst/>
          </a:prstGeom>
          <a:noFill/>
          <a:ln w="12700">
            <a:solidFill>
              <a:srgbClr val="1E43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634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C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github.com/An0319/ai-capex-supercycle-funding-loop-solvency-breakpoint-zh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发表者：WANG ZIWEN / 왕자문 - 2025102925 · 数据截止 2026-09-06 · © CC BY-NC 4.0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7132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E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8442</Words>
  <Application>Microsoft Office PowerPoint</Application>
  <PresentationFormat>宽屏</PresentationFormat>
  <Paragraphs>1158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Independent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谁为万亿算力买单——AI资本开支超级周期的资金闭环与偿付断点</dc:title>
  <dc:subject>AI Capex Supercycle: Funding Loop &amp; Solvency Breakpoint</dc:subject>
  <dc:creator>WANG ZIWEN (Adrian)</dc:creator>
  <cp:lastModifiedBy>子文 王</cp:lastModifiedBy>
  <cp:revision>5</cp:revision>
  <dcterms:created xsi:type="dcterms:W3CDTF">2026-10-12T16:19:17Z</dcterms:created>
  <dcterms:modified xsi:type="dcterms:W3CDTF">2026-10-12T16:25:17Z</dcterms:modified>
</cp:coreProperties>
</file>